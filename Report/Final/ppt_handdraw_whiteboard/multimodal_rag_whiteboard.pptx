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af2535cacc4f8a" /><Relationship Type="http://schemas.openxmlformats.org/officeDocument/2006/relationships/extended-properties" Target="/docProps/app.xml" Id="R08eb319ba36c4c9d" /><Relationship Type="http://schemas.openxmlformats.org/officeDocument/2006/relationships/officeDocument" Target="/ppt/presentation.xml" Id="R3700aea8e20449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2e2cd707384302"/>
  </p:sldMasterIdLst>
  <p:notesMasterIdLst>
    <p:notesMasterId xmlns:r="http://schemas.openxmlformats.org/officeDocument/2006/relationships" r:id="R645012b5b3d84f9c"/>
  </p:notesMasterIdLst>
  <p:sldIdLst>
    <p:sldId xmlns:r="http://schemas.openxmlformats.org/officeDocument/2006/relationships" id="256" r:id="Ra3b615ed38234db8"/>
    <p:sldId xmlns:r="http://schemas.openxmlformats.org/officeDocument/2006/relationships" id="257" r:id="R3ce94e99964a41db"/>
    <p:sldId xmlns:r="http://schemas.openxmlformats.org/officeDocument/2006/relationships" id="258" r:id="R800c6f87bd4141d2"/>
    <p:sldId xmlns:r="http://schemas.openxmlformats.org/officeDocument/2006/relationships" id="259" r:id="R25d9ea491a504d7c"/>
    <p:sldId xmlns:r="http://schemas.openxmlformats.org/officeDocument/2006/relationships" id="260" r:id="Rfc19ea47ce374eba"/>
    <p:sldId xmlns:r="http://schemas.openxmlformats.org/officeDocument/2006/relationships" id="261" r:id="Rabeb0374f8c54a26"/>
    <p:sldId xmlns:r="http://schemas.openxmlformats.org/officeDocument/2006/relationships" id="262" r:id="Ra6e27a4788154953"/>
    <p:sldId xmlns:r="http://schemas.openxmlformats.org/officeDocument/2006/relationships" id="263" r:id="R50796e84d4c6441f"/>
    <p:sldId xmlns:r="http://schemas.openxmlformats.org/officeDocument/2006/relationships" id="264" r:id="R0c1d10cc55944daa"/>
    <p:sldId xmlns:r="http://schemas.openxmlformats.org/officeDocument/2006/relationships" id="265" r:id="Rd3c1fd216ff04341"/>
    <p:sldId xmlns:r="http://schemas.openxmlformats.org/officeDocument/2006/relationships" id="266" r:id="R5b47208caa834a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79a63e63f9456c" /><Relationship Type="http://schemas.openxmlformats.org/officeDocument/2006/relationships/slideMaster" Target="/ppt/slideMasters/slideMaster1.xml" Id="Rde2e2cd707384302" /><Relationship Type="http://schemas.openxmlformats.org/officeDocument/2006/relationships/notesMaster" Target="/ppt/notesMasters/notesMaster1.xml" Id="R645012b5b3d84f9c" /><Relationship Type="http://schemas.openxmlformats.org/officeDocument/2006/relationships/presProps" Target="/ppt/presProps.xml" Id="Rf18626bdce164830" /><Relationship Type="http://schemas.openxmlformats.org/officeDocument/2006/relationships/tableStyles" Target="/ppt/tableStyles.xml" Id="R056880891d034b44" /><Relationship Type="http://schemas.openxmlformats.org/officeDocument/2006/relationships/slide" Target="/ppt/slides/slide1.xml" Id="Ra3b615ed38234db8" /><Relationship Type="http://schemas.openxmlformats.org/officeDocument/2006/relationships/slide" Target="/ppt/slides/slide2.xml" Id="R3ce94e99964a41db" /><Relationship Type="http://schemas.openxmlformats.org/officeDocument/2006/relationships/slide" Target="/ppt/slides/slide3.xml" Id="R800c6f87bd4141d2" /><Relationship Type="http://schemas.openxmlformats.org/officeDocument/2006/relationships/slide" Target="/ppt/slides/slide4.xml" Id="R25d9ea491a504d7c" /><Relationship Type="http://schemas.openxmlformats.org/officeDocument/2006/relationships/slide" Target="/ppt/slides/slide5.xml" Id="Rfc19ea47ce374eba" /><Relationship Type="http://schemas.openxmlformats.org/officeDocument/2006/relationships/slide" Target="/ppt/slides/slide6.xml" Id="Rabeb0374f8c54a26" /><Relationship Type="http://schemas.openxmlformats.org/officeDocument/2006/relationships/slide" Target="/ppt/slides/slide7.xml" Id="Ra6e27a4788154953" /><Relationship Type="http://schemas.openxmlformats.org/officeDocument/2006/relationships/slide" Target="/ppt/slides/slide8.xml" Id="R50796e84d4c6441f" /><Relationship Type="http://schemas.openxmlformats.org/officeDocument/2006/relationships/slide" Target="/ppt/slides/slide9.xml" Id="R0c1d10cc55944daa" /><Relationship Type="http://schemas.openxmlformats.org/officeDocument/2006/relationships/slide" Target="/ppt/slides/slide10.xml" Id="Rd3c1fd216ff04341" /><Relationship Type="http://schemas.openxmlformats.org/officeDocument/2006/relationships/slide" Target="/ppt/slides/slide11.xml" Id="R5b47208caa834a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1b1689ecd47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fc46fcc00c47b0" /><Relationship Type="http://schemas.openxmlformats.org/officeDocument/2006/relationships/notesMaster" Target="/ppt/notesMasters/notesMaster1.xml" Id="R02e7ebb9f6c1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b0ad823784420" /><Relationship Type="http://schemas.openxmlformats.org/officeDocument/2006/relationships/notesMaster" Target="/ppt/notesMasters/notesMaster1.xml" Id="Rcef49d76fc6e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a797d0ed334c7c" /><Relationship Type="http://schemas.openxmlformats.org/officeDocument/2006/relationships/notesMaster" Target="/ppt/notesMasters/notesMaster1.xml" Id="R067a7fbb52544a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e2790ac75d446f" /><Relationship Type="http://schemas.openxmlformats.org/officeDocument/2006/relationships/notesMaster" Target="/ppt/notesMasters/notesMaster1.xml" Id="R4241f0cfc0b344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54712d293f4ecd" /><Relationship Type="http://schemas.openxmlformats.org/officeDocument/2006/relationships/notesMaster" Target="/ppt/notesMasters/notesMaster1.xml" Id="Rf1ce5403bf754b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1b35ac71b4d8c" /><Relationship Type="http://schemas.openxmlformats.org/officeDocument/2006/relationships/notesMaster" Target="/ppt/notesMasters/notesMaster1.xml" Id="Reef803cdff0741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14fd8216bf4188" /><Relationship Type="http://schemas.openxmlformats.org/officeDocument/2006/relationships/notesMaster" Target="/ppt/notesMasters/notesMaster1.xml" Id="R6ffbcf4d453e44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6e52eb7761475f" /><Relationship Type="http://schemas.openxmlformats.org/officeDocument/2006/relationships/notesMaster" Target="/ppt/notesMasters/notesMaster1.xml" Id="R80316eb8f27d4a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707d03abf04122" /><Relationship Type="http://schemas.openxmlformats.org/officeDocument/2006/relationships/notesMaster" Target="/ppt/notesMasters/notesMaster1.xml" Id="R16aa2cec74a34c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211f40d77d4c58" /><Relationship Type="http://schemas.openxmlformats.org/officeDocument/2006/relationships/notesMaster" Target="/ppt/notesMasters/notesMaster1.xml" Id="R2795d20f6eb44a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59baa5da704642" /><Relationship Type="http://schemas.openxmlformats.org/officeDocument/2006/relationships/notesMaster" Target="/ppt/notesMasters/notesMaster1.xml" Id="Red5dafeb3209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大家好，我展示的项目是面向 PDF 与图片文档的多模态理解问答系统。本系统从文档上传开始，依次完成页面解析、文本与视觉证据构建、向量检索、重排、GRPO 决策模型、答案生成和证据溯源展示，形成从后端模型 pipeline 到前端 PDF 预览界面的完整闭环。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这一页直接放入报告第二章的表 2.1。系统不是单一模型，而是由文档解析与 OCR、Embedding 与 Fusion、向量检索与 Reranker、GRPO 决策模型、VLM 多模态生成和前端溯源预览共同组成。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第三章给出的总体流程是“文档解析-多模态向量化-检索重排-GRPO 决策模型-多模态生成-PDF 高亮溯源”。这里最重要的点是：系统同时处理回答问题和找到证据，而不是只生成文本。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报告第三章里说，文档解析模块主要解决“知识从哪里来”的问题。在 Fusion 部分，文本负责语义召回，图像负责补充页面和局部视觉信息，表格 Markdown 负责提供结构化行列关系，坐标字段负责证据溯源。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GRPO 决策模块对应第三章中的强化学习训练闭环。它的核心不是把路由规则写死，而是训练一个 Decide Model，让它根据用户问题和检索到的 evidence，选择更合适的 LLM/VLM 来回答。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系统实现上，后端使用 FastAPI 封装文件上传、解析任务、chunk 查询、页面图读取、检索问答和文件删除等功能；前端使用 React、Vite、TailwindCSS 和 Framer Motion 构建文件列表、知识库 chunk、问答窗口和连续 PDF 预览。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这一页直接使用报告第五章的主实验表。Overall 的 EM 从 Text-RAG 的 0.3750 提升到 Our-RAG 的 0.9750，ANLS 从 0.4265 提升到 0.9750。结论是：多模态证据能够有效补充纯文本检索在图表、版面和视觉实体信息上的不足。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第二张表来自报告第五章的消融实验。完整 Our-RAG 的 EM 为 0.9750；替换为 Rule Decision 后下降到 0.9220；去掉 Reranker 后下降到 0.9030；去掉 Unified Embedding 后下降到 0.8950。错误主要来自证据定位、视觉理解和答案归一之间的细粒度偏差。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下面播放一分钟 Demo。请大家重点看系统流程是否闭环：上传文档后，系统完成自动解析并生成多模态 chunk；用户提问后，系统通过 GRPO/auto route 选择路径，返回答案和引用 evidence；最后在 PDF 预览中跳转到对应页面，并高亮来源区域。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第六章指出，当前系统仍依赖 OCR、版面解析、向量检索、Reranker 和 VLM 等多个模块串联工作。每个模块的误差都会影响最终回答，例如 OCR 漏识别会导致 evidence 不完整，bbox 偏移会影响前端高亮，检索召回不足会使 VLM 看不到关键区域。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AGI 视角看，文档问答是通向更通用智能助手的重要场景之一。真实知识往往分布在 PDF、表格、图片、图表、扫描件和网页截图中，一个接近 AGI 的系统需要同时具备阅读、定位、比较、推理和溯源能力。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14dd6335c48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03a4ec31e04524" /><Relationship Type="http://schemas.openxmlformats.org/officeDocument/2006/relationships/slideLayout" Target="/ppt/slideLayouts/slideLayout1.xml" Id="R415b6194720b41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5b6194720b41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d721fee3b467e" /><Relationship Type="http://schemas.openxmlformats.org/officeDocument/2006/relationships/notesSlide" Target="/ppt/notesSlides/notesSlide1.xml" Id="R04299e06b112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f596a6a864214" /><Relationship Type="http://schemas.openxmlformats.org/officeDocument/2006/relationships/notesSlide" Target="/ppt/notesSlides/notesSlide2.xml" Id="R436b2cd65fea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e4cc7a67749fe" /><Relationship Type="http://schemas.openxmlformats.org/officeDocument/2006/relationships/notesSlide" Target="/ppt/notesSlides/notesSlide3.xml" Id="R3838c0e9749147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5dd7ec27a4ddb" /><Relationship Type="http://schemas.openxmlformats.org/officeDocument/2006/relationships/notesSlide" Target="/ppt/notesSlides/notesSlide4.xml" Id="Rfec1dd1062b445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5eb3281584bf7" /><Relationship Type="http://schemas.openxmlformats.org/officeDocument/2006/relationships/notesSlide" Target="/ppt/notesSlides/notesSlide5.xml" Id="Rc18ba671159e43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603427e6f4e84" /><Relationship Type="http://schemas.openxmlformats.org/officeDocument/2006/relationships/notesSlide" Target="/ppt/notesSlides/notesSlide6.xml" Id="R181789a0d02e48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fc6cecfbb4ab1" /><Relationship Type="http://schemas.openxmlformats.org/officeDocument/2006/relationships/chart" Target="/ppt/slides/charts/chart1.xml" Id="R2a5d3d1dc066484f" /><Relationship Type="http://schemas.openxmlformats.org/officeDocument/2006/relationships/notesSlide" Target="/ppt/notesSlides/notesSlide7.xml" Id="R3f33807588f949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644ffb1b14378" /><Relationship Type="http://schemas.openxmlformats.org/officeDocument/2006/relationships/notesSlide" Target="/ppt/notesSlides/notesSlide8.xml" Id="R0a93ce75051548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f3638180e45ae" /><Relationship Type="http://schemas.openxmlformats.org/officeDocument/2006/relationships/notesSlide" Target="/ppt/notesSlides/notesSlide9.xml" Id="R728cf0ccc4d948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7d7d8066c4800" /><Relationship Type="http://schemas.openxmlformats.org/officeDocument/2006/relationships/notesSlide" Target="/ppt/notesSlides/notesSlide10.xml" Id="R3ee7f1445dd340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aad9f02be4d3f" /><Relationship Type="http://schemas.openxmlformats.org/officeDocument/2006/relationships/notesSlide" Target="/ppt/notesSlides/notesSlide11.xml" Id="R0385526c9db4442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Text-RAG</c:v>
          </c:tx>
          <c:spPr>
            <a:solidFill xmlns:a="http://schemas.openxmlformats.org/drawingml/2006/main">
              <a:srgbClr val="9CA3A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EM</c:v>
              </c:pt>
              <c:pt idx="1">
                <c:v>ANLS</c:v>
              </c:pt>
            </c:strLit>
          </c:cat>
          <c:val>
            <c:numLit>
              <c:formatCode>General</c:formatCode>
              <c:ptCount val="2"/>
              <c:pt idx="0">
                <c:v>0.375</c:v>
              </c:pt>
              <c:pt idx="1">
                <c:v>0.4265</c:v>
              </c:pt>
            </c:numLit>
          </c:val>
        </c:ser>
        <c:ser>
          <c:idx val="1"/>
          <c:order val="1"/>
          <c:tx>
            <c:v>Our-RAG</c:v>
          </c:tx>
          <c:spPr>
            <a:solidFill xmlns:a="http://schemas.openxmlformats.org/drawingml/2006/main">
              <a:srgbClr val="2F80E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EM</c:v>
              </c:pt>
              <c:pt idx="1">
                <c:v>ANLS</c:v>
              </c:pt>
            </c:strLit>
          </c:cat>
          <c:val>
            <c:numLit>
              <c:formatCode>General</c:formatCode>
              <c:ptCount val="2"/>
              <c:pt idx="0">
                <c:v>0.975</c:v>
              </c:pt>
              <c:pt idx="1">
                <c:v>0.975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E1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AFA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F29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AFAF5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08A80A-8097-4F41-AAFE-027DF0A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F04CB-70F7-4F84-BEE4-8CA12625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20723-CC7B-48EF-807C-2F3180EA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7C022-828B-4540-AFD1-CCA88D5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087F6-B4ED-4EC2-BBD2-15C0C0B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C9E25-F833-4519-B8C9-43EBC45E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多模态文档问答系统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0B1DB-0E20-466E-83D2-4858F80D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925FC-E456-46C3-A8C9-DEBA32B2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基于多模态 RAG 的 PDF / 图片文档理解助手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279F3-1F1D-40E6-AD1E-836BEDF2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914400" y="1428750"/>
            <a:ext cx="4000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5E7B8-9153-4CC9-95B7-043F7C95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714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文档智能助手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BCE54-19B6-4408-81AA-E9C1312A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242887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上传 → 解析 → 检索重排 → GRPO 决策 → 生成答案 → PDF 高亮溯源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46C7D-4431-4E6A-A540-43549F1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429500" y="1333500"/>
            <a:ext cx="2476500" cy="147637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4B8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66581-97D9-4340-971D-EB11522A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562850" y="1447800"/>
            <a:ext cx="22098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核心创新</a:t>
            </a:r>
          </a:p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多模态分块</a:t>
            </a:r>
          </a:p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GRPO 决策</a:t>
            </a:r>
          </a:p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系统闭环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FF0BA-7EDF-487A-B412-2F951211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61950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DD5C9-6D28-4735-BD93-983E3E46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37719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系统实现细节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7C493-E17F-4000-BF33-EFCCE097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3619500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7AE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B7863-A7C7-4B8E-AB32-828436C3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37719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rPr>
              <a:t>代码仓库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B7511-8E5F-4D9F-A1C0-8EA689F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619625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39C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6ADF5-B2F2-47AE-8CBD-401C3F4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47720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F4A5F-C26B-4275-9359-A05B0EAF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619625"/>
            <a:ext cx="1714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E44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1EA19-D8FE-4D1D-8E69-18B0FFE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47720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反思与展望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E2792-EBBF-472B-B9DA-5CB2976F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686050"/>
            <a:ext cx="133350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65798-4BA2-4AE4-9343-740606D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19825" y="3838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A2B4D-2F03-4A06-A9DD-EE33C20C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3、6 章</a:t>
            </a:r>
          </a:p>
        </p:txBody>
      </p:sp>
    </p:spTree>
    <p:extLst>
      <p:ext uri="{BB962C8B-B14F-4D97-AF65-F5344CB8AC3E}">
        <p14:creationId xmlns:p14="http://schemas.microsoft.com/office/powerpoint/2010/main" val="453343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7AA2C-586F-499C-B75C-E1E1A72B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8957C-4FE5-4E48-B8AF-4842DB48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7257E-27A1-4CF9-BEFD-D7B73E9E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41A25-4829-4771-AA19-28084C17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160A5-4E47-4DEE-84F3-8FB7770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B82F3-9FE4-4E14-A40C-1F7891A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表 2.1：相关技术组件与项目功能对应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36807-0A5D-4EC0-A429-9CAB539C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6D9A5-1A12-41F9-8E3C-D02DA74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从开题方案到系统模块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28650" y="1257300"/>
          <a:ext xmlns:a="http://schemas.openxmlformats.org/drawingml/2006/main" cx="8001000" cy="4476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6191250"/>
              </a:tblGrid>
              <a:tr h="6395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技术组件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功能与作用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文档解析与 OCR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PDF/图片转成页面、文本、坐标和局部区域，支撑 chunk 构建、PDF 预览和证据高亮。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Embedding 与 Fusion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文本、OCR、表格和图像特征转成统一 evidence，使不同模态可以共同检索和生成。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向量检索与 Reranker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先召回候选证据，再过滤弱相关 chunk，提高送入生成模型的证据质量。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GRPO 决策模型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通过强化学习训练决策模型，根据问题和证据选择更合适的 LLM/VLM 与上下文组织方式。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 多模态生成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根据重排后的文本与视觉 evidence 构建上下文，并调用选定模型生成答案。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前端溯源预览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展示答案对应页面和 bbox 区域，使问答结果可检查、可追溯。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1376B-5B32-4232-898E-349A0D70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953500" y="1619250"/>
            <a:ext cx="219075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B8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8F300-3A01-4583-A79B-E3B30A8A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086850" y="1733550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结论：</a:t>
            </a:r>
          </a:p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开题报告中的组件</a:t>
            </a:r>
          </a:p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都有明确系统功能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E5F7C-D052-4522-B053-0111326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3238500"/>
            <a:ext cx="2000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E04F8-3578-4B3D-98ED-3645676B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3409950"/>
            <a:ext cx="142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获取证据</a:t>
            </a:r>
          </a:p>
          <a:p xmlns:a="http://schemas.openxmlformats.org/drawingml/2006/main">
            <a:pPr algn="ctr">
              <a:def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选择模型</a:t>
            </a:r>
          </a:p>
          <a:p xmlns:a="http://schemas.openxmlformats.org/drawingml/2006/main">
            <a:pPr algn="ctr">
              <a:def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生成答案</a:t>
            </a:r>
          </a:p>
          <a:p xmlns:a="http://schemas.openxmlformats.org/drawingml/2006/main">
            <a:pPr algn="ctr">
              <a:def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回到原文验证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1A642-D9F2-4C56-8024-0659BF72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2 章，表 2.1</a:t>
            </a:r>
          </a:p>
        </p:txBody>
      </p:sp>
    </p:spTree>
    <p:extLst>
      <p:ext uri="{BB962C8B-B14F-4D97-AF65-F5344CB8AC3E}">
        <p14:creationId xmlns:p14="http://schemas.microsoft.com/office/powerpoint/2010/main" val="24890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19226-DDCC-4B2F-AF6F-7D0AB43D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3B68A-51FF-4C11-BAF9-3E4CB51C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38A81-E9CA-4643-A6AB-88BB383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686D6-7565-4019-BCC2-029A791D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DC4D7-0D68-4AC1-9EDD-3B4D366B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716B1-6299-4139-8359-893FADBD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系统实现流程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A639C-D526-4552-AE5E-03731C70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B2C7E-1297-406D-9D82-D19409BE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第三章总体架构：回答问题 + 找到证据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A05BA-5480-4995-8BFA-1A44813B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457200" y="1952625"/>
            <a:ext cx="195262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5A67E-10C4-44D0-9CC3-CE50C915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1431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文档解析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EC6C9-6860-4018-A1E3-4411442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6193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页面文本 / 页面图 / 表格 / 坐标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868FB-A44D-4644-AD42-E651B4D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26860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AA5E9-1C4C-45C3-8BE2-84011553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33675" y="2619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8A3B6-B66A-444C-B655-240452F7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2724150" y="1952625"/>
            <a:ext cx="195262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7AE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11A81-9020-4A48-B905-B8BE3C1A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1431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rPr>
              <a:t>知识索引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1170B-FF0E-4F93-AE3C-6D326555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6193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text / table / figure / code 统一保存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989CF-980D-481A-AD16-A1ED31B7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26860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0DF2C-D017-4CED-BC35-B9072FA6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00625" y="2619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4D41D-1770-41AE-B32B-6AA94FC9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4991100" y="1952625"/>
            <a:ext cx="195262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39C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A170E-9787-424F-8103-3E919E57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21431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rPr>
              <a:t>检索重排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0C3E7-960F-4831-9F69-C27E459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26193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向量召回 evidence + Reranker 二次排序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DD576-1915-4817-AF0C-501E38CE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26860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A22D7-13D5-4DD0-9AAF-DF66CF64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67575" y="2619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1CA62-D591-4936-A886-E8E594E3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258050" y="1952625"/>
            <a:ext cx="195262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74C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C8946-B94D-4D29-A12A-CCFF410A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1431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rPr>
              <a:t>决策生成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2CDFB-E164-4905-8682-83821DC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6193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GRPO 选择 LLM / VLM 与上下文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EF921-8EDB-43DD-8E74-C7A0CA0C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26860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1A3B9-4608-45AF-AEAA-65464FFE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34525" y="2619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95A4A-1DC0-49C8-B76F-CC0FA515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9525000" y="1952625"/>
            <a:ext cx="195262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E44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9B4AC-E9F6-4E5C-A51D-19F66CA8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1431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前端溯源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33DCD-5AA0-4653-8936-FE844B06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619375"/>
            <a:ext cx="160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page + bbox + evidence id 高亮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7F860D-032E-4FD5-991C-7EF5FF0B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4524375" y="4286250"/>
            <a:ext cx="3143250" cy="9048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B8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6FB632-DC7A-48F1-83D1-86A005A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4657725" y="4400550"/>
            <a:ext cx="2876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核心思想：</a:t>
            </a:r>
          </a:p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回答问题的同时</a:t>
            </a:r>
          </a:p>
          <a:p xmlns:a="http://schemas.openxmlformats.org/drawingml/2006/main">
            <a:pPr algn="l">
              <a:def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必须找到证据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DB7BAC-EA32-4572-92BA-F4B54456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3 章，总体架构</a:t>
            </a:r>
          </a:p>
        </p:txBody>
      </p:sp>
    </p:spTree>
    <p:extLst>
      <p:ext uri="{BB962C8B-B14F-4D97-AF65-F5344CB8AC3E}">
        <p14:creationId xmlns:p14="http://schemas.microsoft.com/office/powerpoint/2010/main" val="1108670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EAB21D-484A-49D1-AFBB-E81CF1D2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56038-5C06-4602-B324-29FE83DC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1A352-50C2-4D65-8FBB-803C54BC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B62A0-10F2-4387-BA03-12B794FD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EBE62-EB23-4CF9-9FBD-9D21B732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73464-4D8E-4E30-A417-EC569E5F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多模态分块与 Fusion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445BC-09FA-431C-A687-3E19D485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0D935-BAA4-4997-A5F7-BF4556FF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 PDF / 图片变成可检索、可生成、可高亮的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75A39-137F-4D73-9FA8-B43A09F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476375"/>
            <a:ext cx="2095500" cy="3000375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2C60A-3D59-4BC8-AEE3-5298C2F8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6954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PDF / 图片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DE974-F066-488A-B9E5-ECC74866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381250"/>
            <a:ext cx="1476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页面级解析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区域抽取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表格结构化</a:t>
            </a:r>
          </a:p>
          <a:p xmlns:a="http://schemas.openxmlformats.org/drawingml/2006/main">
            <a:pPr algn="ctr">
              <a:def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坐标保存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100E1-AC26-4BC3-9B8A-60B74E99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3619500" y="1381125"/>
            <a:ext cx="1238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1F38E-D563-4488-91B0-130EB57F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15525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8EB54-1A00-4FDC-8ADC-791BDC50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5048250" y="1381125"/>
            <a:ext cx="1238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7AE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9065D-E08A-4D19-A7F8-6552C262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15525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rPr>
              <a:t>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2C001-EF2B-4AC1-86D3-2A8EE9BF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3619500" y="2381250"/>
            <a:ext cx="1238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39C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39811-8231-4259-83C1-1ADFB165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25527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rPr>
              <a:t>figure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A0D93-7D8F-4112-87C1-CAB430F0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5048250" y="2381250"/>
            <a:ext cx="1238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74C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2939D-B635-479A-98C2-E2C89D01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25527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rPr>
              <a:t>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44D52-BC19-4E1F-9DDF-BF1B102B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4333875" y="3381375"/>
            <a:ext cx="1238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E44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B0C6C-E959-4C25-B025-975F1F39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35528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code / crop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FBC3D-C569-4BE9-A1F5-A328DD68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290512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E15EC-637A-4C3D-BAF4-74499836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09950" y="2838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968E7-A0D8-41C9-AB3F-38CCBD48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29051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020F9-5A09-464A-B9B7-380B5F43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77075" y="2838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F428B-3668-4242-9545-4C77537F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1619250"/>
            <a:ext cx="3286125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A866C-D6F1-4065-9FED-2EB094A3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1847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Fusion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7C628-7BA5-4539-B473-B0C5316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275ED-F291-4BAC-9F4C-F25CCD91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2381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文本负责语义召回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8D1865-BE5D-4EE6-974E-4A549ED8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9525">
            <a:solidFill>
              <a:srgbClr val="F39C1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010163-0DF1-43A2-A2C8-C7A02474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28098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图像补充视觉信息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57C79-8803-430A-B3AF-3D769B6E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1CBC96-5307-4C6B-BB50-79550D71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32385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表格保留行列结构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CA5CA-E5DD-4F7B-971C-450F6A4E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0E646A-49FD-4122-B02A-11B31DA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36671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bbox 负责证据溯源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D6B8C-25B2-41AA-9238-53C7442D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3 章，文档解析实现 / Embedding 与 Fusion 实现</a:t>
            </a:r>
          </a:p>
        </p:txBody>
      </p:sp>
    </p:spTree>
    <p:extLst>
      <p:ext uri="{BB962C8B-B14F-4D97-AF65-F5344CB8AC3E}">
        <p14:creationId xmlns:p14="http://schemas.microsoft.com/office/powerpoint/2010/main" val="1580359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484C2-9D2D-452D-87AC-69B425C1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6F27D-D671-4769-BD1A-719D88F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6A8C7-5F9A-448F-8B8D-F890FA6F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3D444-0C05-45D6-BF7D-684B74CD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A95C2-18F9-432B-A070-69894D9D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0B2F9-EEB9-41D7-8673-8B77F913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GRPO 决策模型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7CF32-55DD-4232-A7B2-0205DFC2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D4CA0-F204-46CC-A78D-57446637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让系统学会为不同问题选择合适模型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9651C-5F5C-4634-84BD-914BDDB0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914400" y="2238375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1787F-B60D-43F3-AA8D-4AFCA00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2409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Decide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59AB6-E119-46A2-92D4-DF3455C0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77177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问题 + evidence + 类型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AA4CC-1406-49DB-AB56-9028DDA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3714750" y="1333500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7AE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6E0F2-9209-4B8F-AAE7-A8B35662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150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rPr>
              <a:t>候选 LLM/VLM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2FA0C-12D8-45B7-9611-8E114D36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18669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分别生成回答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BC420-6A4E-4B2B-A72D-5C10C73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238375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39C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AC9C2-9148-42E1-9C57-F2200077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409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rPr>
              <a:t>Judge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99015-FDAA-42AC-B25D-66A5EF05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277177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正确性 / 证据一致性 / 完整性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29C3B-6938-4B16-9579-6E515B69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3714750" y="4114800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74C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C97FA-DAB1-465B-A293-4370A8D9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rPr>
              <a:t>GRPO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66F43-8BC7-442B-A3F1-54207B0E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46482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根据 reward 更新策略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E0992-9B47-4E2B-9334-D8DCAEDC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2667000"/>
            <a:ext cx="809625" cy="-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84C2D-A500-43E4-A8F2-D913ABB3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48075" y="1885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24BE7-5C2B-40B5-9AA9-9A348AD8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1952625"/>
            <a:ext cx="8096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C6082-4AB9-4C27-8CCC-9CA6B82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57950" y="26003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14F18-030A-4F3D-9E9A-D51553E7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333750"/>
            <a:ext cx="-247650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DACAF-DEDA-4077-9545-92BA0F27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81575" y="40481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0CF63-A28E-4206-9A03-6666315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667250"/>
            <a:ext cx="-1762125" cy="-1362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F06B0-E9B6-468C-AD40-6522B83E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85950" y="3238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4315C-B262-4408-8F84-EDEDF6B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048750" y="1762125"/>
            <a:ext cx="2381250" cy="1714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4B8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13872-827F-436C-AC79-F038296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182100" y="1876425"/>
            <a:ext cx="21145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作用：</a:t>
            </a:r>
          </a:p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学会选模型</a:t>
            </a:r>
          </a:p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文本题 / 图表题 / 局部视觉题</a:t>
            </a:r>
          </a:p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走不同路径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414B1A-BA0A-4A06-A9F9-927AC5DF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3 章，GRPO 决策模型实现</a:t>
            </a:r>
          </a:p>
        </p:txBody>
      </p:sp>
    </p:spTree>
    <p:extLst>
      <p:ext uri="{BB962C8B-B14F-4D97-AF65-F5344CB8AC3E}">
        <p14:creationId xmlns:p14="http://schemas.microsoft.com/office/powerpoint/2010/main" val="1602447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78720-B04E-4D68-B753-613353DA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1590A-8D36-4CE7-A1B6-BBB07041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25708-FA7A-4D6E-AE97-496E4C70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A96F9-AB6C-4436-8CDF-44481D13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4F9C6-FCEA-4B42-85B0-91CE4D6D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451A6-DBA2-42E5-B964-86DDBE0B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系统实现细节与代码仓库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FF354-04A6-41F3-B229-4690C20A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98DCD-1E9E-4C9F-99FF-1731021A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FastAPI + React + PDF viewer + 评测脚本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DF356-8B76-4F54-97F3-7F4FA678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30480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20442-0221-4DA1-AA5B-1494AC1E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581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28232-69A6-408A-A3F6-A60F2CFF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9050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React / Vite / TailwindCSS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文件列表、chunk、问答窗口、PDF 预览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575A4-DB42-457C-888C-0B25321F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1428750"/>
            <a:ext cx="30480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7AE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62630-7738-4A3C-877B-DF935FF1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575" y="1581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47032-BB5D-41E5-9472-A53F79D0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575" y="19050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上传、解析任务、chunk 查询、页面图、问答、删除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A53CC-DF2C-47B3-8F6B-67931F05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428750"/>
            <a:ext cx="30480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39C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F1DB2-AFE4-4ABA-BD95-2B28970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1581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rPr>
              <a:t>高亮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F1593-FC99-41D2-AFFA-DE6C23B0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19050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后端 bbox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按页面显示尺寸缩放映射到 PDF 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0C44A-233D-45B7-A456-E33C06C8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171950"/>
            <a:ext cx="30480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E44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D849D-2303-4C3A-AC07-483F8D5E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43243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仓库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0417C-F453-41FC-A6C7-5A77024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46482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报告、运行说明、核心模块、评测脚本与实验结果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10E31-7D67-4BD1-817B-B046101D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4171950"/>
            <a:ext cx="30480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74C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7983F-17C2-4FE4-9F80-12A95D5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43243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D1565-79FE-400F-A462-BA747C02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46482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DocVQA / ChartQA</a:t>
            </a:r>
          </a:p>
          <a:p xmlns:a="http://schemas.openxmlformats.org/drawingml/2006/main">
            <a:pPr algn="l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Text-RAG vs Our-RAG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F414F-D45E-4C7F-B0F3-8385375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2000250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86776-A39B-4F51-BBB2-6822821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62450" y="1933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4CAFA-1D38-4CA8-87EA-868A467D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2000250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29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4FFC6-1125-406A-8E36-ABACB493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05775" y="1933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1F625-C7F1-472C-8236-75547049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3 章，前后端交互与 PDF 预览实现</a:t>
            </a:r>
          </a:p>
        </p:txBody>
      </p:sp>
    </p:spTree>
    <p:extLst>
      <p:ext uri="{BB962C8B-B14F-4D97-AF65-F5344CB8AC3E}">
        <p14:creationId xmlns:p14="http://schemas.microsoft.com/office/powerpoint/2010/main" val="1707388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394B70-A286-4296-BC4C-E524853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94513-E22B-473C-9628-4DBA99F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9903D-FCC9-42D0-962F-7B456A29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AA368-C887-4770-A7EA-EB9F2F8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FD77E-713D-4EF0-A698-5D8F372D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3604C-F731-4D6A-90D3-4BB3E732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实验表 1：Text-RAG 与 Our-RAG 性能对比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F43C2-E9BF-4F5A-9D21-AB8BFEE5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5C8F1-994C-4441-9EC7-FAD0CCFE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定量实验结果：EM / ANLS / Answer Match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6762750" cy="3286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09650"/>
                <a:gridCol w="1066800"/>
                <a:gridCol w="838200"/>
                <a:gridCol w="838200"/>
                <a:gridCol w="1123950"/>
                <a:gridCol w="1238250"/>
              </a:tblGrid>
              <a:tr h="469446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ANLS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Answer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Latency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DocVQA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Text-RAG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0.5500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0.6230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0.6500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5697.80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DocVQA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Our-RAG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0.9500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0.9500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0.9500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3858.81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ChartQA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Text-RAG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0.2000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0.2300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0.2500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3451.81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ChartQA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Our-RAG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3352.50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Text-RAG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0.3750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0.4265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0.4500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4574.81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Overall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Our-RAG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0.9750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3605.66</a:t>
                      </a:r>
                    </a:p>
                  </a:txBody>
                  <a:tcPr marL="91440" marR="91440" marT="45720" marB="45720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810500" y="1524000"/>
          <a:ext xmlns:a="http://schemas.openxmlformats.org/drawingml/2006/main" cx="31432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5d3d1dc066484f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2EA97-8513-463E-A65A-FBF47DC7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696200" y="4000500"/>
            <a:ext cx="20955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4B8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849FA-C2CA-4CFA-97F0-6941BC00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829550" y="41148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结论 1：</a:t>
            </a:r>
          </a:p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Our-RAG 在三项指标上</a:t>
            </a:r>
          </a:p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明显优于 Text-RAG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C9E11-0C42-4EAC-8A40-AE87E23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858375" y="4000500"/>
            <a:ext cx="2000250" cy="10001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5FF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49EFE-7CBF-483E-8C32-A46C79EF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991725" y="4114800"/>
            <a:ext cx="17335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结论 2：</a:t>
            </a:r>
          </a:p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多模态 evidence 补充</a:t>
            </a:r>
          </a:p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图表、版面和视觉实体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F801C-D7B5-47F6-8724-EC020A65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5 章，表 5.1</a:t>
            </a:r>
          </a:p>
        </p:txBody>
      </p:sp>
    </p:spTree>
    <p:extLst>
      <p:ext uri="{BB962C8B-B14F-4D97-AF65-F5344CB8AC3E}">
        <p14:creationId xmlns:p14="http://schemas.microsoft.com/office/powerpoint/2010/main" val="573385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6CADE1-2339-43F7-8DEA-64D614E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D6069-B9BB-4C4E-A343-B4484619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CFEE9-6D60-445A-A0D3-D7AE624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8898A-DD08-4F5D-B952-BE73164C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E2B07-1132-4B80-9CE1-17878C61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D4859-A9D5-4DBF-BC08-043FAD8D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实验表 2：消融实验与错误分析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68456-7187-4A08-936A-50B8FFCD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C87DA-4510-468C-BC44-7C1EE11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关键组件贡献 + 剩余误差来源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52450" y="1381125"/>
          <a:ext xmlns:a="http://schemas.openxmlformats.org/drawingml/2006/main" cx="6667500" cy="2905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895350"/>
                <a:gridCol w="895350"/>
                <a:gridCol w="1047750"/>
                <a:gridCol w="819150"/>
              </a:tblGrid>
              <a:tr h="484188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ANLS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Answer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ΔEM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Our-RAG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0.9750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Rule 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-0.0530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without Reranker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0.9030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0.9100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0.9120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-0.0720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without Unified Embedding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-0.0800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without Judge Reward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0.9730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0.9740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0.9740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0">
                          <a:solidFill>
                            <a:srgbClr val="1F29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-0.0020</a:t>
                      </a:r>
                    </a:p>
                  </a:txBody>
                  <a:tcPr marL="91440" marR="91440" marT="45720" marB="45720">
                    <a:solidFill>
                      <a:srgbClr val="F8F6ED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2810F-79B7-4689-AD4E-158BF38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667625" y="1285875"/>
            <a:ext cx="3143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4B8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EA368-D41B-4AD3-A1CB-85C4643B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800975" y="1400175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结论：</a:t>
            </a:r>
          </a:p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Reranker 与统一多模态向量化</a:t>
            </a:r>
          </a:p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是关键因素；GRPO 优于硬规则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01855-2577-46AE-B5E0-BD878551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905750" y="2857500"/>
            <a:ext cx="1285875" cy="71437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74C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98765-7B42-4202-8D06-94254DB8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9908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rPr>
              <a:t>复杂表格</a:t>
            </a:r>
          </a:p>
          <a:p xmlns:a="http://schemas.openxmlformats.org/drawingml/2006/main">
            <a:pPr algn="ctr">
              <a:defRPr sz="120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rPr>
              <a:t>行列定位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C9135-69DF-4BB9-9BE3-7C2C98FA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9620250" y="2857500"/>
            <a:ext cx="1285875" cy="71437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F39C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80814-881C-4ECE-9648-73203C12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29908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rPr>
              <a:t>局部 crop</a:t>
            </a:r>
          </a:p>
          <a:p xmlns:a="http://schemas.openxmlformats.org/drawingml/2006/main">
            <a:pPr algn="ctr">
              <a:defRPr sz="12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rPr>
              <a:t>裁剪偏差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BAEB0-9D35-48BD-8CDF-8FB44CA1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8763000" y="4095750"/>
            <a:ext cx="1285875" cy="71437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E44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B32BB-C2EA-4A14-9C69-3C53B35B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42291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答案格式</a:t>
            </a:r>
          </a:p>
          <a:p xmlns:a="http://schemas.openxmlformats.org/drawingml/2006/main">
            <a:pPr algn="ctr">
              <a:defRPr sz="12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波动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B6C2E-07AE-4FA2-BB99-23BDF90C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5 章，表 5.2 与错误分析</a:t>
            </a:r>
          </a:p>
        </p:txBody>
      </p:sp>
    </p:spTree>
    <p:extLst>
      <p:ext uri="{BB962C8B-B14F-4D97-AF65-F5344CB8AC3E}">
        <p14:creationId xmlns:p14="http://schemas.microsoft.com/office/powerpoint/2010/main" val="99649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66CCE-8A66-4064-8113-FC0ED64B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D8097-B545-4C1C-94F9-77395F3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2D482-117F-4AEC-93BA-4B1D9316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3DCC4-866A-46C8-88C6-750560CB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26475-05B9-4CF4-BBBF-557EBDB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8C760-38ED-4CD8-AB50-CF131799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一分钟 Demo 视频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60646-2DE3-4B28-A3F1-1B200854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8947B-031B-458B-870C-4E4250AA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观看重点：答案与原文证据联动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576C1-2D32-4C8A-A570-5678837C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381125"/>
            <a:ext cx="7524750" cy="3762375"/>
          </a:xfrm>
          <a:prstGeom xmlns:a="http://schemas.openxmlformats.org/drawingml/2006/main" prst="roundRect">
            <a:avLst>
              <a:gd name="adj" fmla="val 6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C548A-E1C3-4E40-9B64-A881D3DC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38800" y="2619375"/>
            <a:ext cx="1047750" cy="1047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E8F29-D7EB-47E7-A246-53D914AF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210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现场播放 1 分钟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72953-E990-4A05-80A6-208F5EE6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619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E9582-8E80-407F-9F9C-3EC382A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16668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C375C-8A21-468B-902C-9B0BFEB4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16192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1F46D-278F-4B68-9C5C-B83CE325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6668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FB830-9C40-4A70-9481-13A958C8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8101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313F2-D57D-4CB6-80AC-D8FE8B2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857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81D60-3D22-4771-B80F-3BA6988C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48101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12B1B-6D60-4BBF-AEA0-B21590D4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4857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提问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5F993-7923-49D6-9D2A-A877B00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54768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C07E4-48C9-4CB8-ACA8-0E83ACA6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24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3A925-ACC7-436B-81EF-E21D7C1B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4768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DC5D3-AB46-442D-932D-CECCA764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5524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高亮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2032A-12FD-45BA-8DCF-433C39CD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Demo 流程：上传 -&gt; 解析 -&gt; chunk -&gt; 提问 -&gt; GRPO/auto route -&gt; 答案 -&gt; PDF 高亮</a:t>
            </a:r>
          </a:p>
        </p:txBody>
      </p:sp>
    </p:spTree>
    <p:extLst>
      <p:ext uri="{BB962C8B-B14F-4D97-AF65-F5344CB8AC3E}">
        <p14:creationId xmlns:p14="http://schemas.microsoft.com/office/powerpoint/2010/main" val="411535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FA0AAF-67BC-4EC3-AA15-A04E90F1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B4208-ED84-45EF-BE1A-41B58D8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C8F38-C5EC-4568-947D-60696930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7AA5A-7A3C-47DF-BA2C-298A2149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F8AEA-36A1-4FFC-B54A-3BAC6EA5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95418-C9C9-457B-ACCF-4BC45DB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反思：模型局限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87484-2163-484E-A272-B63EF062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0F431-24AA-4F6F-9594-A466C170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瓶颈不只在模型，也在证据定位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09291-D35F-4103-AC3C-8E7398F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904875" y="1428750"/>
            <a:ext cx="8858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4C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F471B-F2B0-4ACB-B9C7-3DEA0E2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5716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1. 依赖 OCR、版面解析、向量检索、Reranker 和 VLM 多模块串联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419B8-0AB0-4B4A-B0E3-9AE14275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904875" y="2171700"/>
            <a:ext cx="8858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9C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062F6-C673-4A1A-9F94-9B72D658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3145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2. OCR 漏识别会导致 evidence 不完整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36C7D-73D2-49A8-A853-878CD0A7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904875" y="2914650"/>
            <a:ext cx="8858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4C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AA1D7-B4BF-470E-BDD7-8B412D8E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575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3. bbox 偏移会影响前端高亮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88A17-EDDA-4823-8577-DE05D71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904875" y="3657600"/>
            <a:ext cx="8858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9C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0A55D-AB33-442E-A65F-E6BC247B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8004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4. 检索召回不足会使 VLM 看不到关键区域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048F7-0F69-4EE1-A4C8-68B24F9F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904875" y="4400550"/>
            <a:ext cx="8858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4C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7EDED-DFF7-4D03-AC3A-45336E37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5434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5. 长程任务规划、跨文档持续记忆和多轮目标追踪仍有限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C285F-F8F9-4737-A0E4-1D14FEFC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8382000" y="4905375"/>
            <a:ext cx="2762250" cy="9048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E7E0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92A57-2B90-4ACB-983B-82D9A257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8515350" y="5019675"/>
            <a:ext cx="24955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系统可以回答当前文档问题，</a:t>
            </a:r>
          </a:p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但还不是长期维护目标的智能助理。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4FF8F-AE4C-44E8-B719-2347340A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6 章，局限与未来工作</a:t>
            </a:r>
          </a:p>
        </p:txBody>
      </p:sp>
    </p:spTree>
    <p:extLst>
      <p:ext uri="{BB962C8B-B14F-4D97-AF65-F5344CB8AC3E}">
        <p14:creationId xmlns:p14="http://schemas.microsoft.com/office/powerpoint/2010/main" val="5326914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26215E-A1DC-445D-9B1A-F0224576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71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91165-D5F1-40F0-86CB-612BF516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66865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C043B-715F-4FC3-805D-C4C4CC83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837E8-DC29-491A-A1AE-83B69CCC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E19F8-65B4-4AE3-AF6D-D722BB5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C02DA-746C-4DC6-BD3F-2098FD7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展望：AGI 视角下的潜力与瓶颈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2C729-1580-4B0D-863B-0A66085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00100"/>
            <a:ext cx="3905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423A1-4F82-493E-BE77-7B0977E5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866775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文档问答是通向通用智能助手的重要场景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538DE-4F8F-4DA3-B608-1521EFD5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1809750"/>
            <a:ext cx="3429000" cy="16668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4A6C9-8D17-41C9-BEEA-2D54F357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3050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AGI 文档助手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08BD4-5694-4EB5-9AD1-A346163F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000125" y="1381125"/>
            <a:ext cx="2571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27AE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A11F7-630F-4BD7-A0D4-E68B56DE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15335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AE60"/>
                </a:solidFill>
                <a:latin typeface="Microsoft YaHei"/>
                <a:ea typeface="Microsoft YaHei"/>
                <a:cs typeface="Microsoft YaHei"/>
              </a:rPr>
              <a:t>阅读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22F78-2B17-4F84-823D-AA5F099B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1905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PDF / 表格 / 图片 / 图表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32B90-BEF4-4C99-9AD8-2F2ED413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1905000"/>
            <a:ext cx="7143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7AE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053A2-860C-4E1F-B97B-FF4CADD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19575" y="2552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B930E-3D72-4F2F-971C-F55219B4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8524875" y="1381125"/>
            <a:ext cx="2571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F39C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E9428-74B7-4CAF-B027-C59311B3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15335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39C12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EB9D9-7942-4DD0-AC76-E5334838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1905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可靠证据与来源区域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DEB94-9516-43CE-9D04-5A46ED9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905000"/>
            <a:ext cx="-8096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39C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5FFB8-5E94-46DE-8E61-2C39F791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48575" y="2552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9525">
            <a:solidFill>
              <a:srgbClr val="F39C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D5F76-EC37-4470-AABD-3198C0F0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000125" y="4286250"/>
            <a:ext cx="2571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E74C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4436B-ECC8-4549-BDE0-412BE9EB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4438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74C3C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17E0E-FBAA-4275-A050-134AC609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4810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比较、常识与跨页关系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2C4EB-50A6-4EEC-8AE7-D64A801F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4810125"/>
            <a:ext cx="714375" cy="-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74C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4C48B-3B66-4767-A5E1-2CA688E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19575" y="2552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9525">
            <a:solidFill>
              <a:srgbClr val="E74C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CF00A-A48B-4207-BFB2-BCDD5F8A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8524875" y="4286250"/>
            <a:ext cx="2571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8E44A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DAC0C-1A52-4BE3-9F39-77750C6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4438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C87B7-F5AD-464D-A918-59200C3F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4810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自我检查与持续学习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CE088-06C1-4B6C-AE0A-6A9A9EC6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4810125"/>
            <a:ext cx="-809625" cy="-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8E44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DBDBDC-5A3D-49C0-BB87-3825078A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48575" y="2552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44AD"/>
          </a:solidFill>
          <a:ln xmlns:a="http://schemas.openxmlformats.org/drawingml/2006/main" w="9525">
            <a:solidFill>
              <a:srgbClr val="8E44A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D84274-0045-4216-9B79-3B7DF06F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4648200" y="4191000"/>
            <a:ext cx="2857500" cy="12573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3335">
            <a:solidFill>
              <a:srgbClr val="D9B6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4299C-4B1E-4191-8674-DAEC8FA9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4781550" y="4305300"/>
            <a:ext cx="2590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未来方向：</a:t>
            </a:r>
          </a:p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更强多模态基础模型</a:t>
            </a:r>
          </a:p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视觉检索 / 自我验证</a:t>
            </a:r>
          </a:p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持续学习的决策模型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CF25C3-C612-4B4F-8E80-C092EDF6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6553200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56B"/>
                </a:solidFill>
                <a:latin typeface="Microsoft YaHei"/>
                <a:ea typeface="Microsoft YaHei"/>
                <a:cs typeface="Microsoft YaHei"/>
              </a:rPr>
              <a:t>来源：期末报告第 6 章，AGI 视角下的潜力与瓶颈</a:t>
            </a:r>
          </a:p>
        </p:txBody>
      </p:sp>
    </p:spTree>
    <p:extLst>
      <p:ext uri="{BB962C8B-B14F-4D97-AF65-F5344CB8AC3E}">
        <p14:creationId xmlns:p14="http://schemas.microsoft.com/office/powerpoint/2010/main" val="91991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2026-06-17T15:49:17.0820000Z</dcterms:created>
  <dcterms:modified xsi:type="dcterms:W3CDTF">2026-06-17T15:49:17.0830000Z</dcterms:modified>
</coreProperties>
</file>